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389120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E88B1A"/>
                </a:solidFill>
              </a:rPr>
              <a:t>NOITE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0" b="1" i="0">
                <a:solidFill>
                  <a:srgbClr val="FFFFFF"/>
                </a:solidFill>
              </a:rPr>
              <a:t>COMO A INTERNET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0" b="1" i="0">
                <a:solidFill>
                  <a:srgbClr val="FFFFFF"/>
                </a:solidFill>
              </a:rPr>
              <a:t>CHEGA ATÉ VOCÊ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747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1">
                <a:solidFill>
                  <a:srgbClr val="FFFFFF"/>
                </a:solidFill>
              </a:rPr>
              <a:t>Do cabo da rua até a tela do celular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035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55555"/>
                </a:solidFill>
              </a:rPr>
              <a:t>Redes de Computadores · Curso FIC · CEJA Itapiranga – SC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RETOMADA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O que ficou da noite passada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88136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</a:rPr>
              <a:t>1.  Wi-Fi é a mesma coisa que internet?</a:t>
            </a:r>
          </a:p>
          <a:p>
            <a:pPr algn="l"/>
            <a:r>
              <a:rPr sz="2000" b="0" i="0">
                <a:solidFill>
                  <a:srgbClr val="1A1A1A"/>
                </a:solidFill>
              </a:rPr>
              <a:t>2.  Dá para ter rede sem internet?</a:t>
            </a:r>
          </a:p>
          <a:p>
            <a:pPr algn="l"/>
            <a:r>
              <a:rPr sz="2000" b="0" i="0">
                <a:solidFill>
                  <a:srgbClr val="1A1A1A"/>
                </a:solidFill>
              </a:rPr>
              <a:t>3.  O que os dados móveis têm de diferente?</a:t>
            </a:r>
          </a:p>
          <a:p>
            <a:pPr algn="l"/>
            <a:r>
              <a:rPr sz="2000" b="0" i="0">
                <a:solidFill>
                  <a:srgbClr val="1A1A1A"/>
                </a:solidFill>
              </a:rPr>
              <a:t>4.  O que significa o ícone com sinal de exclamação?</a:t>
            </a:r>
          </a:p>
          <a:p>
            <a:pPr algn="l"/>
            <a:r>
              <a:rPr sz="2000" b="0" i="0">
                <a:solidFill>
                  <a:srgbClr val="1A1A1A"/>
                </a:solidFill>
              </a:rPr>
              <a:t>5.  Quem trouxe a ficha do roteador preenchida?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4360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1">
                <a:solidFill>
                  <a:srgbClr val="555555"/>
                </a:solidFill>
              </a:rPr>
              <a:t>Cinco minutos. Se a turma travar em alguma, retome ali mesmo antes de seguir.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A PERGUNTA DA NOITE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De onde vem essa internet?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8813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1">
                <a:solidFill>
                  <a:srgbClr val="1A1A1A"/>
                </a:solidFill>
              </a:rPr>
              <a:t>O cliente aponta para a caixinha na parede</a:t>
            </a:r>
          </a:p>
          <a:p>
            <a:pPr algn="l"/>
            <a:r>
              <a:rPr sz="2200" b="0" i="1">
                <a:solidFill>
                  <a:srgbClr val="1A1A1A"/>
                </a:solidFill>
              </a:rPr>
              <a:t>e diz: "a internet está aí dentro".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840480"/>
            <a:ext cx="10881360" cy="2103120"/>
          </a:xfrm>
          <a:prstGeom prst="roundRect">
            <a:avLst/>
          </a:prstGeom>
          <a:solidFill>
            <a:srgbClr val="FFFFFF"/>
          </a:solidFill>
          <a:ln w="25000">
            <a:solidFill>
              <a:srgbClr val="E88B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023360"/>
            <a:ext cx="105156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</a:rPr>
              <a:t>A verdade</a:t>
            </a:r>
          </a:p>
          <a:p>
            <a:pPr algn="l"/>
            <a:r>
              <a:rPr sz="2000" b="0" i="0">
                <a:solidFill>
                  <a:srgbClr val="1A1A1A"/>
                </a:solidFill>
              </a:rPr>
              <a:t>Naquela caixinha não tem internet nenhuma.</a:t>
            </a:r>
          </a:p>
          <a:p>
            <a:pPr algn="l"/>
            <a:r>
              <a:rPr sz="2000" b="0" i="0">
                <a:solidFill>
                  <a:srgbClr val="1A1A1A"/>
                </a:solidFill>
              </a:rPr>
              <a:t>Tem só a ponta de um caminho muito longo.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O CAMINHO COMPLETO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Seis etapas, sempre as mesmas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2651760"/>
            <a:ext cx="1783080" cy="2377440"/>
          </a:xfrm>
          <a:prstGeom prst="round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1783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E88B1A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00400"/>
            <a:ext cx="1783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SERVIDOR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840480"/>
            <a:ext cx="1691639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FFFFFF"/>
                </a:solidFill>
              </a:rPr>
              <a:t>Máquina que guarda o site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68880" y="2651760"/>
            <a:ext cx="1783080" cy="2377440"/>
          </a:xfrm>
          <a:prstGeom prst="round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68880" y="2743200"/>
            <a:ext cx="1783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E88B1A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3200400"/>
            <a:ext cx="1783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BACKBONE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4600" y="3840480"/>
            <a:ext cx="1691639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FFFFFF"/>
                </a:solidFill>
              </a:rPr>
              <a:t>Fibras de longa distância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2651760"/>
            <a:ext cx="1783080" cy="2377440"/>
          </a:xfrm>
          <a:prstGeom prst="round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80" y="2743200"/>
            <a:ext cx="1783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E88B1A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3200400"/>
            <a:ext cx="1783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PROVEDOR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3840480"/>
            <a:ext cx="1691639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FFFFFF"/>
                </a:solidFill>
              </a:rPr>
              <a:t>Central na sua cidade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2651760"/>
            <a:ext cx="1783080" cy="2377440"/>
          </a:xfrm>
          <a:prstGeom prst="round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0" y="2743200"/>
            <a:ext cx="1783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E88B1A"/>
                </a:solidFill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3200400"/>
            <a:ext cx="1783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A RUA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3840480"/>
            <a:ext cx="1691639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FFFFFF"/>
                </a:solidFill>
              </a:rPr>
              <a:t>Fibra no poste até você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55279" y="2651760"/>
            <a:ext cx="1783080" cy="2377440"/>
          </a:xfrm>
          <a:prstGeom prst="round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55279" y="2743200"/>
            <a:ext cx="1783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E88B1A"/>
                </a:solidFill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79" y="3200400"/>
            <a:ext cx="1783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SUA CASA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01000" y="3840480"/>
            <a:ext cx="1691639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FFFFFF"/>
                </a:solidFill>
              </a:rPr>
              <a:t>Caixinha e roteador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784080" y="2651760"/>
            <a:ext cx="1783080" cy="2377440"/>
          </a:xfrm>
          <a:prstGeom prst="round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84080" y="2743200"/>
            <a:ext cx="1783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E88B1A"/>
                </a:solidFill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0" y="3200400"/>
            <a:ext cx="1783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APARELHO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29800" y="3840480"/>
            <a:ext cx="1691639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FFFFFF"/>
                </a:solidFill>
              </a:rPr>
              <a:t>Cabo ou Wi-Fi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76072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0B5C5C"/>
                </a:solidFill>
              </a:rPr>
              <a:t>Etapas 1 a 3 são com o PROVEDOR    ·    Etapas 4, 5, 6 são o SEU TRABALHO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12648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1">
                <a:solidFill>
                  <a:srgbClr val="555555"/>
                </a:solidFill>
              </a:rPr>
              <a:t>Saber de que lado está o problema é metade do atendimento.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A DIVISÃO QUE IMPORTA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Onde o seu trabalho começa e termina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0" i="1">
                <a:solidFill>
                  <a:srgbClr val="1A1A1A"/>
                </a:solidFill>
              </a:rPr>
              <a:t>É por isso que o vizinho pode estar sem internet e você não: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1752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0" i="1">
                <a:solidFill>
                  <a:srgbClr val="1A1A1A"/>
                </a:solidFill>
              </a:rPr>
              <a:t>cada casa tem o seu drop, saindo da mesma caixa no poste.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114800"/>
            <a:ext cx="1088136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1A1A1A"/>
                </a:solidFill>
              </a:rPr>
              <a:t>•  Etapas 1, 2, 3 (servidor, backbone, provedor)</a:t>
            </a:r>
          </a:p>
          <a:p>
            <a:pPr algn="l"/>
            <a:r>
              <a:rPr sz="1700" b="0" i="0">
                <a:solidFill>
                  <a:srgbClr val="1A1A1A"/>
                </a:solidFill>
              </a:rPr>
              <a:t>     Quando o problema é aqui, não adianta reiniciar roteador nenhum</a:t>
            </a:r>
          </a:p>
          <a:p>
            <a:pPr algn="l"/>
            <a:r>
              <a:rPr sz="1700" b="0" i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1700" b="0" i="0">
                <a:solidFill>
                  <a:srgbClr val="1A1A1A"/>
                </a:solidFill>
              </a:rPr>
              <a:t>•  Etapas 4, 5, 6 (rua, casa, aparelho)</a:t>
            </a:r>
          </a:p>
          <a:p>
            <a:pPr algn="l"/>
            <a:r>
              <a:rPr sz="1700" b="0" i="0">
                <a:solidFill>
                  <a:srgbClr val="1A1A1A"/>
                </a:solidFill>
              </a:rPr>
              <a:t>     É onde o técnico de campo atua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OS BICHOS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Quem é quem numa rede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0B5C5C"/>
                </a:solidFill>
              </a:rPr>
              <a:t>MODEM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2377440"/>
            <a:ext cx="7589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</a:rPr>
              <a:t>Converte o sinal do provedor no sinal que a rede entende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7180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0B5C5C"/>
                </a:solidFill>
              </a:rPr>
              <a:t>ROTEADOR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2971800"/>
            <a:ext cx="7589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</a:rPr>
              <a:t>Cria a rede da casa e decide para onde cada informação vai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56616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0B5C5C"/>
                </a:solidFill>
              </a:rPr>
              <a:t>SWITCH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3566160"/>
            <a:ext cx="7589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</a:rPr>
              <a:t>Aumenta o número de portas de cabo. Não cria rede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16052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0B5C5C"/>
                </a:solidFill>
              </a:rPr>
              <a:t>PONTO DE ACESSO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4160520"/>
            <a:ext cx="7589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</a:rPr>
              <a:t>Leva o sinal sem fio onde o roteador não alcança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75488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0B5C5C"/>
                </a:solidFill>
              </a:rPr>
              <a:t>PLACA DE REDE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4754880"/>
            <a:ext cx="7589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</a:rPr>
              <a:t>Onde o cabo entra no computador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34924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E88B1A"/>
                </a:solidFill>
              </a:rPr>
              <a:t>+ CABO DE REDE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5349240"/>
            <a:ext cx="7589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</a:rPr>
              <a:t>O que liga todos eles. Não cria rede, mas é o que mais dá defeito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03504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1">
                <a:solidFill>
                  <a:srgbClr val="555555"/>
                </a:solidFill>
              </a:rPr>
              <a:t>Cinco equipamentos e o fio que liga todos eles. Um de cada vez.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UM DE CADA VEZ ·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MODEM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555555"/>
                </a:solidFill>
              </a:rPr>
              <a:t>O tradutor. Converte o sinal que vem da rua.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60320"/>
            <a:ext cx="10881360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1A1A1A"/>
                </a:solidFill>
              </a:rPr>
              <a:t>O que faz</a:t>
            </a:r>
          </a:p>
          <a:p>
            <a:pPr algn="l"/>
            <a:r>
              <a:rPr sz="1700" b="0" i="0">
                <a:solidFill>
                  <a:srgbClr val="1A1A1A"/>
                </a:solidFill>
              </a:rPr>
              <a:t>  Pega a luz da fibra (ou o sinal do cabo) e entrega algo que o roteador entende</a:t>
            </a:r>
          </a:p>
          <a:p>
            <a:pPr algn="l"/>
            <a:r>
              <a:rPr sz="1700" b="0" i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1700" b="0" i="0">
                <a:solidFill>
                  <a:srgbClr val="1A1A1A"/>
                </a:solidFill>
              </a:rPr>
              <a:t>Quantas portas</a:t>
            </a:r>
          </a:p>
          <a:p>
            <a:pPr algn="l"/>
            <a:r>
              <a:rPr sz="1700" b="0" i="0">
                <a:solidFill>
                  <a:srgbClr val="1A1A1A"/>
                </a:solidFill>
              </a:rPr>
              <a:t>  Uma só, de saída. Ele não distribui nada</a:t>
            </a:r>
          </a:p>
          <a:p>
            <a:pPr algn="l"/>
            <a:r>
              <a:rPr sz="1700" b="0" i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1700" b="0" i="0">
                <a:solidFill>
                  <a:srgbClr val="1A1A1A"/>
                </a:solidFill>
              </a:rPr>
              <a:t>Cria rede?</a:t>
            </a:r>
          </a:p>
          <a:p>
            <a:pPr algn="l"/>
            <a:r>
              <a:rPr sz="1700" b="0" i="0">
                <a:solidFill>
                  <a:srgbClr val="1A1A1A"/>
                </a:solidFill>
              </a:rPr>
              <a:t>  Não. Sozinho, ele atende um aparelho e só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03504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E88B1A"/>
                </a:solidFill>
              </a:rPr>
              <a:t>Modem traduz. Quem distribui é o roteador.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UM DE CADA VEZ ·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ROTEADOR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555555"/>
                </a:solidFill>
              </a:rPr>
              <a:t>O distribuidor. É ele que cria a rede da casa.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60320"/>
            <a:ext cx="10881360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1A1A1A"/>
                </a:solidFill>
              </a:rPr>
              <a:t>O que faz</a:t>
            </a:r>
          </a:p>
          <a:p>
            <a:pPr algn="l"/>
            <a:r>
              <a:rPr sz="1700" b="0" i="0">
                <a:solidFill>
                  <a:srgbClr val="1A1A1A"/>
                </a:solidFill>
              </a:rPr>
              <a:t>  Recebe uma conexão e divide entre todos os aparelhos, por cabo e sem fio</a:t>
            </a:r>
          </a:p>
          <a:p>
            <a:pPr algn="l"/>
            <a:r>
              <a:rPr sz="1700" b="0" i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1700" b="0" i="0">
                <a:solidFill>
                  <a:srgbClr val="1A1A1A"/>
                </a:solidFill>
              </a:rPr>
              <a:t>Como decide</a:t>
            </a:r>
          </a:p>
          <a:p>
            <a:pPr algn="l"/>
            <a:r>
              <a:rPr sz="1700" b="0" i="0">
                <a:solidFill>
                  <a:srgbClr val="1A1A1A"/>
                </a:solidFill>
              </a:rPr>
              <a:t>  Guarda quem é quem na rede e manda cada resposta para o aparelho certo</a:t>
            </a:r>
          </a:p>
          <a:p>
            <a:pPr algn="l"/>
            <a:r>
              <a:rPr sz="1700" b="0" i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1700" b="0" i="0">
                <a:solidFill>
                  <a:srgbClr val="1A1A1A"/>
                </a:solidFill>
              </a:rPr>
              <a:t>Tem senha</a:t>
            </a:r>
          </a:p>
          <a:p>
            <a:pPr algn="l"/>
            <a:r>
              <a:rPr sz="1700" b="0" i="0">
                <a:solidFill>
                  <a:srgbClr val="1A1A1A"/>
                </a:solidFill>
              </a:rPr>
              <a:t>  Duas: a da rede sem fio e a de administração do aparelho. SÃO DIFERENTES.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03504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E88B1A"/>
                </a:solidFill>
              </a:rPr>
              <a:t>Sem roteador, um aparelho só. Com roteador, a casa inteira.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UM DE CADA VEZ ·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SWITCH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555555"/>
                </a:solidFill>
              </a:rPr>
              <a:t>Um multiplicador de portas. E só isso.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60320"/>
            <a:ext cx="10881360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</a:rPr>
              <a:t>O que faz</a:t>
            </a:r>
          </a:p>
          <a:p>
            <a:pPr algn="l"/>
            <a:r>
              <a:rPr sz="1600" b="0" i="0">
                <a:solidFill>
                  <a:srgbClr val="1A1A1A"/>
                </a:solidFill>
              </a:rPr>
              <a:t>  Transforma uma porta de cabo em quatro, oito, dezesseis</a:t>
            </a:r>
          </a:p>
          <a:p>
            <a:pPr algn="l"/>
            <a:r>
              <a:rPr sz="1600" b="0" i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1600" b="0" i="0">
                <a:solidFill>
                  <a:srgbClr val="1A1A1A"/>
                </a:solidFill>
              </a:rPr>
              <a:t>O que NÃO faz</a:t>
            </a:r>
          </a:p>
          <a:p>
            <a:pPr algn="l"/>
            <a:r>
              <a:rPr sz="1600" b="0" i="0">
                <a:solidFill>
                  <a:srgbClr val="1A1A1A"/>
                </a:solidFill>
              </a:rPr>
              <a:t>  Não cria rede, não distribui internet sozinho, não tem Wi-Fi</a:t>
            </a:r>
          </a:p>
          <a:p>
            <a:pPr algn="l"/>
            <a:r>
              <a:rPr sz="1600" b="0" i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1600" b="0" i="0">
                <a:solidFill>
                  <a:srgbClr val="1A1A1A"/>
                </a:solidFill>
              </a:rPr>
              <a:t>Como diferenciar do roteador</a:t>
            </a:r>
          </a:p>
          <a:p>
            <a:pPr algn="l"/>
            <a:r>
              <a:rPr sz="1600" b="0" i="0">
                <a:solidFill>
                  <a:srgbClr val="1A1A1A"/>
                </a:solidFill>
              </a:rPr>
              <a:t>  Olhem a traseira: roteador tem uma porta diferente (WAN). Switch tem todas iguais.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03504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E88B1A"/>
                </a:solidFill>
              </a:rPr>
              <a:t>Switch sem roteador não dá internet a ninguém. É extensão de porta.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UM DE CADA VEZ ·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PONTO DE ACESSO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555555"/>
                </a:solidFill>
              </a:rPr>
              <a:t>Leva o sinal sem fio onde o roteador não alcança.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60320"/>
            <a:ext cx="10881360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</a:rPr>
              <a:t>O que faz</a:t>
            </a:r>
          </a:p>
          <a:p>
            <a:pPr algn="l"/>
            <a:r>
              <a:rPr sz="1600" b="0" i="0">
                <a:solidFill>
                  <a:srgbClr val="1A1A1A"/>
                </a:solidFill>
              </a:rPr>
              <a:t>  Cria mais um ponto de Wi-Fi, ligado na mesma rede da casa</a:t>
            </a:r>
          </a:p>
          <a:p>
            <a:pPr algn="l"/>
            <a:r>
              <a:rPr sz="1600" b="0" i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1600" b="0" i="0">
                <a:solidFill>
                  <a:srgbClr val="1A1A1A"/>
                </a:solidFill>
              </a:rPr>
              <a:t>Como se liga</a:t>
            </a:r>
          </a:p>
          <a:p>
            <a:pPr algn="l"/>
            <a:r>
              <a:rPr sz="1600" b="0" i="0">
                <a:solidFill>
                  <a:srgbClr val="1A1A1A"/>
                </a:solidFill>
              </a:rPr>
              <a:t>  O ideal é por cabo até o roteador. Assim o sinal não perde força.</a:t>
            </a:r>
          </a:p>
          <a:p>
            <a:pPr algn="l"/>
            <a:r>
              <a:rPr sz="1600" b="0" i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1600" b="0" i="0">
                <a:solidFill>
                  <a:srgbClr val="1A1A1A"/>
                </a:solidFill>
              </a:rPr>
              <a:t>O repetidor</a:t>
            </a:r>
          </a:p>
          <a:p>
            <a:pPr algn="l"/>
            <a:r>
              <a:rPr sz="1600" b="0" i="0">
                <a:solidFill>
                  <a:srgbClr val="1A1A1A"/>
                </a:solidFill>
              </a:rPr>
              <a:t>  Faz parecido, mas sem cabo — repete o que recebe pelo ar, e perde velocidade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03504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E88B1A"/>
                </a:solidFill>
              </a:rPr>
              <a:t>Levar cabo até um ponto de acesso resolve melhor que empilhar repetidor.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UM DE CADA VEZ ·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PLACA DE REDE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555555"/>
                </a:solidFill>
              </a:rPr>
              <a:t>A porta de entrada da rede dentro do computador.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60320"/>
            <a:ext cx="10881360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1A1A1A"/>
                </a:solidFill>
              </a:rPr>
              <a:t>Onde fica</a:t>
            </a:r>
          </a:p>
          <a:p>
            <a:pPr algn="l"/>
            <a:r>
              <a:rPr sz="1700" b="0" i="0">
                <a:solidFill>
                  <a:srgbClr val="1A1A1A"/>
                </a:solidFill>
              </a:rPr>
              <a:t>  Integrada na placa-mãe, na traseira do gabinete</a:t>
            </a:r>
          </a:p>
          <a:p>
            <a:pPr algn="l"/>
            <a:r>
              <a:rPr sz="1700" b="0" i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1700" b="0" i="0">
                <a:solidFill>
                  <a:srgbClr val="1A1A1A"/>
                </a:solidFill>
              </a:rPr>
              <a:t>As luzinhas</a:t>
            </a:r>
          </a:p>
          <a:p>
            <a:pPr algn="l"/>
            <a:r>
              <a:rPr sz="1700" b="0" i="0">
                <a:solidFill>
                  <a:srgbClr val="1A1A1A"/>
                </a:solidFill>
              </a:rPr>
              <a:t>  Uma acesa fixa = cabo com sinal. A outra pisca = tráfego passando.</a:t>
            </a:r>
          </a:p>
          <a:p>
            <a:pPr algn="l"/>
            <a:r>
              <a:rPr sz="1700" b="0" i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1700" b="0" i="0">
                <a:solidFill>
                  <a:srgbClr val="1A1A1A"/>
                </a:solidFill>
              </a:rPr>
              <a:t>Se queimar</a:t>
            </a:r>
          </a:p>
          <a:p>
            <a:pPr algn="l"/>
            <a:r>
              <a:rPr sz="1700" b="0" i="0">
                <a:solidFill>
                  <a:srgbClr val="1A1A1A"/>
                </a:solidFill>
              </a:rPr>
              <a:t>  Resolve com uma placa de rede USB, que custa pouco.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03504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E88B1A"/>
                </a:solidFill>
              </a:rPr>
              <a:t>A luzinha piscando na traseira é a primeira coisa a olhar num chamado.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E O QUE LIGA TUDO · +1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CABO DE REDE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555555"/>
                </a:solidFill>
              </a:rPr>
              <a:t>Não é equipamento. É o caminho entre eles.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60320"/>
            <a:ext cx="10881360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1A1A1A"/>
                </a:solidFill>
              </a:rPr>
              <a:t>O que faz</a:t>
            </a:r>
          </a:p>
          <a:p>
            <a:pPr algn="l"/>
            <a:r>
              <a:rPr sz="1700" b="0" i="0">
                <a:solidFill>
                  <a:srgbClr val="1A1A1A"/>
                </a:solidFill>
              </a:rPr>
              <a:t>  Leva o sinal de um aparelho a outro: modem → roteador → switch → computador</a:t>
            </a:r>
          </a:p>
          <a:p>
            <a:pPr algn="l"/>
            <a:r>
              <a:rPr sz="1700" b="0" i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1700" b="0" i="0">
                <a:solidFill>
                  <a:srgbClr val="1A1A1A"/>
                </a:solidFill>
              </a:rPr>
              <a:t>Por dentro</a:t>
            </a:r>
          </a:p>
          <a:p>
            <a:pPr algn="l"/>
            <a:r>
              <a:rPr sz="1700" b="0" i="0">
                <a:solidFill>
                  <a:srgbClr val="1A1A1A"/>
                </a:solidFill>
              </a:rPr>
              <a:t>  8 fios em 4 pares trançados, com conector RJ45 nas pontas</a:t>
            </a:r>
          </a:p>
          <a:p>
            <a:pPr algn="l"/>
            <a:r>
              <a:rPr sz="1700" b="0" i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1700" b="0" i="0">
                <a:solidFill>
                  <a:srgbClr val="1A1A1A"/>
                </a:solidFill>
              </a:rPr>
              <a:t>Onde está escrito</a:t>
            </a:r>
          </a:p>
          <a:p>
            <a:pPr algn="l"/>
            <a:r>
              <a:rPr sz="1700" b="0" i="0">
                <a:solidFill>
                  <a:srgbClr val="1A1A1A"/>
                </a:solidFill>
              </a:rPr>
              <a:t>  Na própria capa: fabricante, categoria (Cat5e, Cat6) e a metragem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03504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E88B1A"/>
                </a:solidFill>
              </a:rPr>
              <a:t>Não cria rede — mas é o item que mais dá defeito. Nas Noites 3, 4 e 5 ele é o assunto.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DE UMA OLHADA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O quadro dos cinco (+ o cabo)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2377440"/>
          <a:ext cx="1088136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011680"/>
                <a:gridCol w="2286000"/>
                <a:gridCol w="3657600"/>
              </a:tblGrid>
              <a:tr h="509451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Equipamento</a:t>
                      </a:r>
                    </a:p>
                  </a:txBody>
                  <a:tcPr>
                    <a:solidFill>
                      <a:srgbClr val="0B5C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Cria rede?</a:t>
                      </a:r>
                    </a:p>
                  </a:txBody>
                  <a:tcPr>
                    <a:solidFill>
                      <a:srgbClr val="0B5C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Tem Wi-Fi?</a:t>
                      </a:r>
                    </a:p>
                  </a:txBody>
                  <a:tcPr>
                    <a:solidFill>
                      <a:srgbClr val="0B5C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Para que serve</a:t>
                      </a:r>
                    </a:p>
                  </a:txBody>
                  <a:tcPr>
                    <a:solidFill>
                      <a:srgbClr val="0B5C5C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</a:rPr>
                        <a:t>Modem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</a:rPr>
                        <a:t>Não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</a:rPr>
                        <a:t>Não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</a:rPr>
                        <a:t>Traduzir o sinal do provedor</a:t>
                      </a:r>
                    </a:p>
                  </a:txBody>
                  <a:tcPr/>
                </a:tc>
              </a:tr>
              <a:tr h="509451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</a:rPr>
                        <a:t>Roteador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</a:rPr>
                        <a:t>Sim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</a:rPr>
                        <a:t>Quase sempre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</a:rPr>
                        <a:t>Distribuir para a casa toda</a:t>
                      </a:r>
                    </a:p>
                  </a:txBody>
                  <a:tcPr/>
                </a:tc>
              </a:tr>
              <a:tr h="509451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</a:rPr>
                        <a:t>Switch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</a:rPr>
                        <a:t>Não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</a:rPr>
                        <a:t>Não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</a:rPr>
                        <a:t>Aumentar o número de portas</a:t>
                      </a:r>
                    </a:p>
                  </a:txBody>
                  <a:tcPr/>
                </a:tc>
              </a:tr>
              <a:tr h="509451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</a:rPr>
                        <a:t>Ponto de acesso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</a:rPr>
                        <a:t>Não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</a:rPr>
                        <a:t>Sim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</a:rPr>
                        <a:t>Ampliar a cobertura sem fio</a:t>
                      </a:r>
                    </a:p>
                  </a:txBody>
                  <a:tcPr/>
                </a:tc>
              </a:tr>
              <a:tr h="509451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</a:rPr>
                        <a:t>Placa de rede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</a:rPr>
                        <a:t>Não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</a:rPr>
                        <a:t>Depende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</a:rPr>
                        <a:t>Conectar a máquina à rede</a:t>
                      </a:r>
                    </a:p>
                  </a:txBody>
                  <a:tcPr/>
                </a:tc>
              </a:tr>
              <a:tr h="50945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</a:rPr>
                        <a:t>+ Cabo de rede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</a:rPr>
                        <a:t>Não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</a:rPr>
                        <a:t>Não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</a:rPr>
                        <a:t>Ligar os equipamentos entre si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612648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E88B1A"/>
                </a:solidFill>
              </a:rPr>
              <a:t>Só um deles cria rede. Guardem isso.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O ERRO NÚMERO 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A porta que é diferente das outras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8813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0B5C5C"/>
                </a:solidFill>
              </a:rPr>
              <a:t>WAN         LAN     LAN     LAN     LAN</a:t>
            </a:r>
          </a:p>
          <a:p>
            <a:pPr algn="ctr"/>
            <a:r>
              <a:rPr sz="2200" b="1" i="0">
                <a:solidFill>
                  <a:srgbClr val="0B5C5C"/>
                </a:solidFill>
              </a:rPr>
              <a:t>entrada     saídas para os aparelhos da casa</a:t>
            </a:r>
          </a:p>
          <a:p>
            <a:pPr algn="ctr"/>
            <a:r>
              <a:rPr sz="2200" b="1" i="0">
                <a:solidFill>
                  <a:srgbClr val="0B5C5C"/>
                </a:solidFill>
              </a:rPr>
              <a:t>provedor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114800"/>
            <a:ext cx="108813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</a:rPr>
              <a:t>Como reconhecer</a:t>
            </a:r>
          </a:p>
          <a:p>
            <a:pPr algn="l"/>
            <a:r>
              <a:rPr sz="1500" b="0" i="0">
                <a:solidFill>
                  <a:srgbClr val="1A1A1A"/>
                </a:solidFill>
              </a:rPr>
              <a:t>  Fica separada das outras, quase sempre de outra cor, e escrito WAN ou Internet</a:t>
            </a:r>
          </a:p>
          <a:p>
            <a:pPr algn="l"/>
            <a:r>
              <a:rPr sz="1500" b="0" i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1500" b="0" i="0">
                <a:solidFill>
                  <a:srgbClr val="1A1A1A"/>
                </a:solidFill>
              </a:rPr>
              <a:t>O que acontece se errar</a:t>
            </a:r>
          </a:p>
          <a:p>
            <a:pPr algn="l"/>
            <a:r>
              <a:rPr sz="1500" b="0" i="0">
                <a:solidFill>
                  <a:srgbClr val="1A1A1A"/>
                </a:solidFill>
              </a:rPr>
              <a:t>  Tudo conecta na rede normalmente, mas nada abre. Parece defeito e não é.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03504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1">
                <a:solidFill>
                  <a:srgbClr val="C5362B"/>
                </a:solidFill>
              </a:rPr>
              <a:t>Confundir essas duas é o erro mais comum de quem instala roteador.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ONDE ESTÁ ESCRITO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Aprendendo a ler a etiqueta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2103120"/>
          <a:ext cx="1088136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630936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Na etiqueta está escrito…</a:t>
                      </a:r>
                    </a:p>
                  </a:txBody>
                  <a:tcPr>
                    <a:solidFill>
                      <a:srgbClr val="0B5C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Quer dizer</a:t>
                      </a:r>
                    </a:p>
                  </a:txBody>
                  <a:tcPr>
                    <a:solidFill>
                      <a:srgbClr val="0B5C5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</a:rPr>
                        <a:t>Modelo · Ver: 4.1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</a:rPr>
                        <a:t>Nome do aparelho e versão do hardware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</a:rPr>
                        <a:t>S/N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</a:rPr>
                        <a:t>Número de série — único no mundo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</a:rPr>
                        <a:t>MAC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</a:rPr>
                        <a:t>Endereço físico da placa de rede (Noite 6)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</a:rPr>
                        <a:t>SSID  ·  SSID _5G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</a:rPr>
                        <a:t>Nome da rede de fábrica. Com "_5G" = duas faixas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</a:rPr>
                        <a:t>Acesso Padrão / Página de Configuração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</a:rPr>
                        <a:t>O que se digita no navegador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</a:rPr>
                        <a:t>Energia: 12V ⎓ 1A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</a:rPr>
                        <a:t>Tensão e corrente da fonte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</a:rPr>
                        <a:t>N 300Mbps · AC1200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</a:rPr>
                        <a:t>Velocidade máxima teórica do Wi-Fi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</a:rPr>
                        <a:t>Dual Band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</a:rPr>
                        <a:t>Wi-Fi em 2,4 GHz e em 5 GHz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</a:rPr>
                        <a:t>Gigabit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</a:rPr>
                        <a:t>Portas de cabo de 1000 Mbps (sem isso, em geral 100)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608076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1">
                <a:solidFill>
                  <a:srgbClr val="E88B1A"/>
                </a:solidFill>
              </a:rPr>
              <a:t>Tire uma foto da etiqueta antes de pendurar o aparelho — tampando a senha.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E O CABO?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A etiqueta do cabo é a própria capa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0B5C5C"/>
                </a:solidFill>
              </a:rPr>
              <a:t>115 m   MEGATRON   CABO LAN   U/UTP   CAT5e   4P×24AWG   NBR 14703   ANATEL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2743200"/>
          <a:ext cx="1088136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7680960"/>
              </a:tblGrid>
              <a:tr h="444137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Pedaço</a:t>
                      </a:r>
                    </a:p>
                  </a:txBody>
                  <a:tcPr>
                    <a:solidFill>
                      <a:srgbClr val="0B5C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Quer dizer</a:t>
                      </a:r>
                    </a:p>
                  </a:txBody>
                  <a:tcPr>
                    <a:solidFill>
                      <a:srgbClr val="0B5C5C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</a:rPr>
                        <a:t>115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</a:rPr>
                        <a:t>Metragem naquele ponto do rolo — muda a cada metro</a:t>
                      </a:r>
                    </a:p>
                  </a:txBody>
                  <a:tcPr/>
                </a:tc>
              </a:tr>
              <a:tr h="444137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</a:rPr>
                        <a:t>U/UTP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</a:rPr>
                        <a:t>Sem blindagem. Blindado: F/UTP, S/FTP…</a:t>
                      </a:r>
                    </a:p>
                  </a:txBody>
                  <a:tcPr/>
                </a:tc>
              </a:tr>
              <a:tr h="444137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</a:rPr>
                        <a:t>CAT5e / CAT6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</a:rPr>
                        <a:t>Categoria: até quanto de velocidade aguenta com folga</a:t>
                      </a:r>
                    </a:p>
                  </a:txBody>
                  <a:tcPr/>
                </a:tc>
              </a:tr>
              <a:tr h="444137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</a:rPr>
                        <a:t>4P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</a:rPr>
                        <a:t>4 pares = 8 fios</a:t>
                      </a:r>
                    </a:p>
                  </a:txBody>
                  <a:tcPr/>
                </a:tc>
              </a:tr>
              <a:tr h="444137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</a:rPr>
                        <a:t>24AWG / 23AWG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</a:rPr>
                        <a:t>Espessura do cobre. Número MENOR = fio MAIS GROSSO</a:t>
                      </a:r>
                    </a:p>
                  </a:txBody>
                  <a:tcPr/>
                </a:tc>
              </a:tr>
              <a:tr h="44413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</a:rPr>
                        <a:t>NBR 14703 · ANATEL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</a:rPr>
                        <a:t>Segue a norma brasileira e é homologado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603504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1">
                <a:solidFill>
                  <a:srgbClr val="E88B1A"/>
                </a:solidFill>
              </a:rPr>
              <a:t>Texto apagado? Ele se repete — procure um metro adiante.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SEM ABRIR NADA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As luzes do painel já contam a história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2560320"/>
          <a:ext cx="108813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743200"/>
                <a:gridCol w="2743200"/>
                <a:gridCol w="2468880"/>
              </a:tblGrid>
              <a:tr h="6400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A luz</a:t>
                      </a:r>
                    </a:p>
                  </a:txBody>
                  <a:tcPr>
                    <a:solidFill>
                      <a:srgbClr val="0B5C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Acesa fixa</a:t>
                      </a:r>
                    </a:p>
                  </a:txBody>
                  <a:tcPr>
                    <a:solidFill>
                      <a:srgbClr val="0B5C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Piscando</a:t>
                      </a:r>
                    </a:p>
                  </a:txBody>
                  <a:tcPr>
                    <a:solidFill>
                      <a:srgbClr val="0B5C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Apagada</a:t>
                      </a:r>
                    </a:p>
                  </a:txBody>
                  <a:tcPr>
                    <a:solidFill>
                      <a:srgbClr val="0B5C5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</a:rPr>
                        <a:t>Power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</a:rPr>
                        <a:t>Ligado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</a:rPr>
                        <a:t>Sem energia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</a:rPr>
                        <a:t>Internet / WAN (globo)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</a:rPr>
                        <a:t>Internet chegando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</a:rPr>
                        <a:t>Tentando conectar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</a:rPr>
                        <a:t>Sem sinal do provedor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</a:rPr>
                        <a:t>Wi-Fi 2,4 GHz / 5 GHz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</a:rPr>
                        <a:t>Wi-Fi ligado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</a:rPr>
                        <a:t>Tráfego passando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</a:rPr>
                        <a:t>Wi-Fi desligado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</a:rPr>
                        <a:t>LAN 1 a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</a:rPr>
                        <a:t>Cabo conectado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</a:rPr>
                        <a:t>Dados passando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</a:rPr>
                        <a:t>Nada ligado na porta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603504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1">
                <a:solidFill>
                  <a:srgbClr val="C5362B"/>
                </a:solidFill>
              </a:rPr>
              <a:t>Luz de internet apagada: nem adianta mexer no computador. O problema está antes do roteador.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PRÁTICA · 45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Identificação e ficha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88136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</a:rPr>
              <a:t>1.  Identificar cada equipamento e dizer o que faz</a:t>
            </a:r>
          </a:p>
          <a:p>
            <a:pPr algn="l"/>
            <a:r>
              <a:rPr sz="1600" b="0" i="0">
                <a:solidFill>
                  <a:srgbClr val="1A1A1A"/>
                </a:solidFill>
              </a:rPr>
              <a:t>2.  Achar a porta WAN de cada roteador (e explicar como reconheceu)</a:t>
            </a:r>
          </a:p>
          <a:p>
            <a:pPr algn="l"/>
            <a:r>
              <a:rPr sz="1600" b="0" i="0">
                <a:solidFill>
                  <a:srgbClr val="1A1A1A"/>
                </a:solidFill>
              </a:rPr>
              <a:t>3.  Contar as portas LAN e anotar</a:t>
            </a:r>
          </a:p>
          <a:p>
            <a:pPr algn="l"/>
            <a:r>
              <a:rPr sz="1600" b="0" i="0">
                <a:solidFill>
                  <a:srgbClr val="1A1A1A"/>
                </a:solidFill>
              </a:rPr>
              <a:t>4.  Ler a etiqueta de dois roteadores e preencher a ficha (páginas 3 e 4)</a:t>
            </a:r>
          </a:p>
          <a:p>
            <a:pPr algn="l"/>
            <a:r>
              <a:rPr sz="1600" b="0" i="0">
                <a:solidFill>
                  <a:srgbClr val="1A1A1A"/>
                </a:solidFill>
              </a:rPr>
              <a:t>5.  Ligar o roteador e observar as luzes acendendo</a:t>
            </a:r>
          </a:p>
          <a:p>
            <a:pPr algn="l"/>
            <a:r>
              <a:rPr sz="1600" b="0" i="0">
                <a:solidFill>
                  <a:srgbClr val="1A1A1A"/>
                </a:solidFill>
              </a:rPr>
              <a:t>6.  Ler a etiqueta dos dois modems de fibra (página 5)</a:t>
            </a:r>
          </a:p>
          <a:p>
            <a:pPr algn="l"/>
            <a:r>
              <a:rPr sz="1600" b="0" i="0">
                <a:solidFill>
                  <a:srgbClr val="1A1A1A"/>
                </a:solidFill>
              </a:rPr>
              <a:t>7.  Ler a capa de um cabo Cat5e e de um Cat6 (página 6)</a:t>
            </a:r>
          </a:p>
          <a:p>
            <a:pPr algn="l"/>
            <a:r>
              <a:rPr sz="1600" b="0" i="0">
                <a:solidFill>
                  <a:srgbClr val="1A1A1A"/>
                </a:solidFill>
              </a:rPr>
              <a:t>8.  Trocar de bancada e conferir o que a outra equipe anotou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1">
                <a:solidFill>
                  <a:srgbClr val="E88B1A"/>
                </a:solidFill>
              </a:rPr>
              <a:t>Hoje ninguém configura nada. Hoje é reconhecer, nomear e anotar.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CONFERINDO A FICHA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Os dois roteadores da bancada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2194560"/>
          <a:ext cx="1088136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11880"/>
                <a:gridCol w="3611880"/>
              </a:tblGrid>
              <a:tr h="509451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Item</a:t>
                      </a:r>
                    </a:p>
                  </a:txBody>
                  <a:tcPr>
                    <a:solidFill>
                      <a:srgbClr val="0B5C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TL-WR840N</a:t>
                      </a:r>
                    </a:p>
                  </a:txBody>
                  <a:tcPr>
                    <a:solidFill>
                      <a:srgbClr val="0B5C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Archer C5</a:t>
                      </a:r>
                    </a:p>
                  </a:txBody>
                  <a:tcPr>
                    <a:solidFill>
                      <a:srgbClr val="0B5C5C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</a:rPr>
                        <a:t>Velocidade do Wi-Fi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</a:rPr>
                        <a:t>N 300 Mbps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</a:rPr>
                        <a:t>AC1200</a:t>
                      </a:r>
                    </a:p>
                  </a:txBody>
                  <a:tcPr/>
                </a:tc>
              </a:tr>
              <a:tr h="509451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</a:rPr>
                        <a:t>Faixas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</a:rPr>
                        <a:t>Só 2,4 GHz (1 SSID)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</a:rPr>
                        <a:t>Dual Band (SSID + _5G)</a:t>
                      </a:r>
                    </a:p>
                  </a:txBody>
                  <a:tcPr/>
                </a:tc>
              </a:tr>
              <a:tr h="509451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</a:rPr>
                        <a:t>Portas de cabo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</a:rPr>
                        <a:t>100 Mbps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</a:rPr>
                        <a:t>Gigabit (1000 Mbps)</a:t>
                      </a:r>
                    </a:p>
                  </a:txBody>
                  <a:tcPr/>
                </a:tc>
              </a:tr>
              <a:tr h="509451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</a:rPr>
                        <a:t>Alimentação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</a:rPr>
                        <a:t>9V ⎓ 0,6A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</a:rPr>
                        <a:t>12V ⎓ 1A</a:t>
                      </a:r>
                    </a:p>
                  </a:txBody>
                  <a:tcPr/>
                </a:tc>
              </a:tr>
              <a:tr h="509451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</a:rPr>
                        <a:t>Endereço de configuração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</a:rPr>
                        <a:t>tplinkwifi.net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</a:rPr>
                        <a:t>tplinkwifi.net</a:t>
                      </a:r>
                    </a:p>
                  </a:txBody>
                  <a:tcPr/>
                </a:tc>
              </a:tr>
              <a:tr h="509454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</a:rPr>
                        <a:t>Etiqueta do provedor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</a:rPr>
                        <a:t>Sim — código de patrimônio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</a:rPr>
                        <a:t>Sim — código de patrimônio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603504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1">
                <a:solidFill>
                  <a:srgbClr val="E88B1A"/>
                </a:solidFill>
              </a:rPr>
              <a:t>Mesma marca, mesmo endereço — aparelhos bem diferentes.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CONFERINDO A FICHA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Pense como técnico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1088136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1A1A1A"/>
                </a:solidFill>
              </a:rPr>
              <a:t>A fonte de um serve no outro?</a:t>
            </a:r>
          </a:p>
          <a:p>
            <a:pPr algn="l"/>
            <a:r>
              <a:rPr sz="1700" b="0" i="0">
                <a:solidFill>
                  <a:srgbClr val="1A1A1A"/>
                </a:solidFill>
              </a:rPr>
              <a:t>  NÃO. Um pede 9V, o outro 12V. Fonte errada pode queimar o aparelho — ou não ligar.</a:t>
            </a:r>
          </a:p>
          <a:p>
            <a:pPr algn="l"/>
            <a:r>
              <a:rPr sz="1700" b="0" i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1700" b="0" i="0">
                <a:solidFill>
                  <a:srgbClr val="1A1A1A"/>
                </a:solidFill>
              </a:rPr>
              <a:t>Plano de 300 Mega, computador no cabo: qual indicar?</a:t>
            </a:r>
          </a:p>
          <a:p>
            <a:pPr algn="l"/>
            <a:r>
              <a:rPr sz="1700" b="0" i="0">
                <a:solidFill>
                  <a:srgbClr val="1A1A1A"/>
                </a:solidFill>
              </a:rPr>
              <a:t>  O Archer C5. As portas do 840N são de 100 Mbps: no cabo, o cliente nunca passa de ~94.</a:t>
            </a:r>
          </a:p>
          <a:p>
            <a:pPr algn="l"/>
            <a:r>
              <a:rPr sz="1700" b="0" i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1700" b="0" i="0">
                <a:solidFill>
                  <a:srgbClr val="1A1A1A"/>
                </a:solidFill>
              </a:rPr>
              <a:t>Como reconhecer a WAN sem ninguém falar?</a:t>
            </a:r>
          </a:p>
          <a:p>
            <a:pPr algn="l"/>
            <a:r>
              <a:rPr sz="1700" b="0" i="0">
                <a:solidFill>
                  <a:srgbClr val="1A1A1A"/>
                </a:solidFill>
              </a:rPr>
              <a:t>  Separada das outras, de outra cor, escrito WAN ou Internet (ou um globo).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03504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1">
                <a:solidFill>
                  <a:srgbClr val="C5362B"/>
                </a:solidFill>
              </a:rPr>
              <a:t>Ler a etiqueta antes evita troca de fonte errada e reclamação de velocidade.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CONFERINDO A FICHA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Os dois modems de fibra (ONU)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2103120"/>
          <a:ext cx="1088136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4023360"/>
                <a:gridCol w="3566160"/>
              </a:tblGrid>
              <a:tr h="5029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Item</a:t>
                      </a:r>
                    </a:p>
                  </a:txBody>
                  <a:tcPr>
                    <a:solidFill>
                      <a:srgbClr val="0B5C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HG6143D</a:t>
                      </a:r>
                    </a:p>
                  </a:txBody>
                  <a:tcPr>
                    <a:solidFill>
                      <a:srgbClr val="0B5C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AN5506-02-B</a:t>
                      </a:r>
                    </a:p>
                  </a:txBody>
                  <a:tcPr>
                    <a:solidFill>
                      <a:srgbClr val="0B5C5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</a:rPr>
                        <a:t>Marca / tipo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</a:rPr>
                        <a:t>FiberHome · GPON ONU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</a:rPr>
                        <a:t>FiberHome · GPON ONU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</a:rPr>
                        <a:t>Tem Wi-Fi?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</a:rPr>
                        <a:t>Sim, Dual Band (fh_… e fh_…_5G)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</a:rPr>
                        <a:t>Não — sem SSID na etiqueta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</a:rPr>
                        <a:t>Alimentação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</a:rPr>
                        <a:t>12V ⎓ 1,5A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</a:rPr>
                        <a:t>12V ⎓ 1A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</a:rPr>
                        <a:t>Acesso de configuração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</a:rPr>
                        <a:t>192.168.1.1 · user / user1234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</a:rPr>
                        <a:t>Não traz na etiqueta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</a:rPr>
                        <a:t>Identidade pro provedor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</a:rPr>
                        <a:t>GPON SN: FHTT…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</a:rPr>
                        <a:t>S/N: FHTT…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5257800"/>
            <a:ext cx="108813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E88B1A"/>
                </a:solidFill>
              </a:rPr>
              <a:t>Sem Wi-Fi? O cliente precisa de um roteador ligado depois da ONU.</a:t>
            </a:r>
          </a:p>
          <a:p>
            <a:pPr algn="ctr"/>
            <a:r>
              <a:rPr sz="1400" b="1" i="0">
                <a:solidFill>
                  <a:srgbClr val="E88B1A"/>
                </a:solidFill>
              </a:rPr>
              <a:t>Fonte 12V 1,5A liga os dois. A de 1A no HG6143D: falta corrente.</a:t>
            </a:r>
          </a:p>
          <a:p>
            <a:pPr algn="ctr"/>
            <a:r>
              <a:rPr sz="1400" b="1" i="0">
                <a:solidFill>
                  <a:srgbClr val="E88B1A"/>
                </a:solidFill>
              </a:rPr>
              <a:t>Trocou a ONU? O provedor precisa do número de série novo pra liberar a internet.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CONFERINDO A FICHA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Cat5e × Cat6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2194560"/>
          <a:ext cx="108813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743200"/>
                <a:gridCol w="5212080"/>
              </a:tblGrid>
              <a:tr h="5334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Item</a:t>
                      </a:r>
                    </a:p>
                  </a:txBody>
                  <a:tcPr>
                    <a:solidFill>
                      <a:srgbClr val="0B5C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Cat5e</a:t>
                      </a:r>
                    </a:p>
                  </a:txBody>
                  <a:tcPr>
                    <a:solidFill>
                      <a:srgbClr val="0B5C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Cat6</a:t>
                      </a:r>
                    </a:p>
                  </a:txBody>
                  <a:tcPr>
                    <a:solidFill>
                      <a:srgbClr val="0B5C5C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</a:rPr>
                        <a:t>Velocidade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</a:rPr>
                        <a:t>Até 1 Gbps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</a:rPr>
                        <a:t>1 Gbps com mais folga (10 Gbps em trechos curtos)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</a:rPr>
                        <a:t>Distância máxima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</a:rPr>
                        <a:t>100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</a:rPr>
                        <a:t>100 m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</a:rPr>
                        <a:t>Bitola mais comum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</a:rPr>
                        <a:t>24AWG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</a:rPr>
                        <a:t>23AWG (fio mais grosso)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</a:rPr>
                        <a:t>Por dentro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</a:rPr>
                        <a:t>Pares soltos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</a:rPr>
                        <a:t>Muitas vezes tem um separador plástico (cruzeta)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</a:rPr>
                        <a:t>Espessura do cabo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</a:rPr>
                        <a:t>Mais fino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</a:rPr>
                        <a:t>Mais grosso e mais duro de dobrar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5577840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E88B1A"/>
                </a:solidFill>
              </a:rPr>
              <a:t>Plano de 1 Giga com Cat5e na parede: bem instalado e até 100 m, serve. Cat6 é pra obra nova.</a:t>
            </a:r>
          </a:p>
          <a:p>
            <a:pPr algn="ctr"/>
            <a:r>
              <a:rPr sz="1400" b="1" i="0">
                <a:solidFill>
                  <a:srgbClr val="E88B1A"/>
                </a:solidFill>
              </a:rPr>
              <a:t>Metragem: ponta B − ponta A = comprimento do pedaço.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PRÁTICA · 30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Role-play: Cliente × Técnico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881360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</a:rPr>
              <a:t>Duplas. Um é o cliente, outro é o técnico.</a:t>
            </a:r>
          </a:p>
          <a:p>
            <a:pPr algn="l"/>
            <a:r>
              <a:rPr sz="1500" b="0" i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1500" b="0" i="0">
                <a:solidFill>
                  <a:srgbClr val="1A1A1A"/>
                </a:solidFill>
              </a:rPr>
              <a:t>•  Dupla recebe um cartão de chamado (o técnico NÃO vê)</a:t>
            </a:r>
          </a:p>
          <a:p>
            <a:pPr algn="l"/>
            <a:r>
              <a:rPr sz="1500" b="0" i="0">
                <a:solidFill>
                  <a:srgbClr val="1A1A1A"/>
                </a:solidFill>
              </a:rPr>
              <a:t>•  Cliente lê e representa o cliente de verdade — sem vocabulário técnico</a:t>
            </a:r>
          </a:p>
          <a:p>
            <a:pPr algn="l"/>
            <a:r>
              <a:rPr sz="1500" b="0" i="0">
                <a:solidFill>
                  <a:srgbClr val="1A1A1A"/>
                </a:solidFill>
              </a:rPr>
              <a:t>•  Técnico faz 3-4 perguntas, aponta o equipamento com problema</a:t>
            </a:r>
          </a:p>
          <a:p>
            <a:pPr algn="l"/>
            <a:r>
              <a:rPr sz="1500" b="0" i="0">
                <a:solidFill>
                  <a:srgbClr val="1A1A1A"/>
                </a:solidFill>
              </a:rPr>
              <a:t>     e diz o que investigaria primeiro</a:t>
            </a:r>
          </a:p>
          <a:p>
            <a:pPr algn="l"/>
            <a:r>
              <a:rPr sz="1500" b="0" i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1500" b="0" i="0">
                <a:solidFill>
                  <a:srgbClr val="1A1A1A"/>
                </a:solidFill>
              </a:rPr>
              <a:t>•  Depois: troca de papéis, novo cartão</a:t>
            </a:r>
          </a:p>
          <a:p>
            <a:pPr algn="l"/>
            <a:r>
              <a:rPr sz="1500" b="0" i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1500" b="0" i="0">
                <a:solidFill>
                  <a:srgbClr val="1A1A1A"/>
                </a:solidFill>
              </a:rPr>
              <a:t>•  Discussão coletiva: 3 duplas contam qual foi o chamado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O MÉTODO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O que o técnico verifica ao chegar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88136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1.  A luz de fibra ou internet está acesa? Se não, o problema é antes do roteador</a:t>
            </a:r>
          </a:p>
          <a:p>
            <a:pPr algn="l"/>
            <a:r>
              <a:rPr sz="1400" b="0" i="0">
                <a:solidFill>
                  <a:srgbClr val="1A1A1A"/>
                </a:solidFill>
              </a:rPr>
              <a:t>2.  Os cabos estão firmes, com clique? Cabo meio solto é campeão de chamado</a:t>
            </a:r>
          </a:p>
          <a:p>
            <a:pPr algn="l"/>
            <a:r>
              <a:rPr sz="1400" b="0" i="0">
                <a:solidFill>
                  <a:srgbClr val="1A1A1A"/>
                </a:solidFill>
              </a:rPr>
              <a:t>3.  O cabo do provedor está na porta WAN, e não numa LAN?</a:t>
            </a:r>
          </a:p>
          <a:p>
            <a:pPr algn="l"/>
            <a:r>
              <a:rPr sz="1400" b="0" i="0">
                <a:solidFill>
                  <a:srgbClr val="1A1A1A"/>
                </a:solidFill>
              </a:rPr>
              <a:t>4.  Outro aparelho conecta? Se só um falha, o problema é no aparelho</a:t>
            </a:r>
          </a:p>
          <a:p>
            <a:pPr algn="l"/>
            <a:r>
              <a:rPr sz="1400" b="0" i="0">
                <a:solidFill>
                  <a:srgbClr val="1A1A1A"/>
                </a:solidFill>
              </a:rPr>
              <a:t>5.  Conecta na rede mas não abre página? Aí é sinal do provedor</a:t>
            </a:r>
          </a:p>
          <a:p>
            <a:pPr algn="l"/>
            <a:r>
              <a:rPr sz="1400" b="0" i="0">
                <a:solidFill>
                  <a:srgbClr val="1A1A1A"/>
                </a:solidFill>
              </a:rPr>
              <a:t>6.  Desligar da tomada por 10 segundos e ligar resolveu? Registre que resolveu.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1">
                <a:solidFill>
                  <a:srgbClr val="555555"/>
                </a:solidFill>
              </a:rPr>
              <a:t>Sempre na mesma ordem. Método evita retrabalho e troca desnecessária.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ENCENAR UM CHAMADO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Cliente × Técnico ao vivo, turma inteira assiste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881360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</a:rPr>
              <a:t>•  Professor escolhe 2 alunos: 1 cliente, 1 técnico</a:t>
            </a:r>
          </a:p>
          <a:p>
            <a:pPr algn="l"/>
            <a:r>
              <a:rPr sz="1500" b="0" i="0">
                <a:solidFill>
                  <a:srgbClr val="1A1A1A"/>
                </a:solidFill>
              </a:rPr>
              <a:t>•  Professor sussurra o defeito só pro cliente</a:t>
            </a:r>
          </a:p>
          <a:p>
            <a:pPr algn="l"/>
            <a:r>
              <a:rPr sz="1500" b="0" i="0">
                <a:solidFill>
                  <a:srgbClr val="1A1A1A"/>
                </a:solidFill>
              </a:rPr>
              <a:t>•  Técnico faz perguntas na ordem do método</a:t>
            </a:r>
          </a:p>
          <a:p>
            <a:pPr algn="l"/>
            <a:r>
              <a:rPr sz="1500" b="0" i="0">
                <a:solidFill>
                  <a:srgbClr val="1A1A1A"/>
                </a:solidFill>
              </a:rPr>
              <a:t>•  Turma assiste e ajuda quando o técnico trava</a:t>
            </a:r>
          </a:p>
          <a:p>
            <a:pPr algn="l"/>
            <a:r>
              <a:rPr sz="1500" b="0" i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1500" b="0" i="0">
                <a:solidFill>
                  <a:srgbClr val="1A1A1A"/>
                </a:solidFill>
              </a:rPr>
              <a:t>Defeitos que rolam bem:</a:t>
            </a:r>
          </a:p>
          <a:p>
            <a:pPr algn="l"/>
            <a:r>
              <a:rPr sz="1500" b="0" i="0">
                <a:solidFill>
                  <a:srgbClr val="1A1A1A"/>
                </a:solidFill>
              </a:rPr>
              <a:t>     •  Cabo do provedor na porta LAN 3</a:t>
            </a:r>
          </a:p>
          <a:p>
            <a:pPr algn="l"/>
            <a:r>
              <a:rPr sz="1500" b="0" i="0">
                <a:solidFill>
                  <a:srgbClr val="1A1A1A"/>
                </a:solidFill>
              </a:rPr>
              <a:t>     •  Cabo do computador solto no roteador</a:t>
            </a:r>
          </a:p>
          <a:p>
            <a:pPr algn="l"/>
            <a:r>
              <a:rPr sz="1500" b="0" i="0">
                <a:solidFill>
                  <a:srgbClr val="1A1A1A"/>
                </a:solidFill>
              </a:rPr>
              <a:t>     •  Roteador foi resetado e perdeu configuração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DUELO RELÂMPAGO · 15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Time A × Time B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881360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1A1A1A"/>
                </a:solidFill>
              </a:rPr>
              <a:t>As perguntas de hoje giram em torno de:</a:t>
            </a:r>
          </a:p>
          <a:p>
            <a:pPr algn="l"/>
            <a:r>
              <a:rPr sz="1700" b="0" i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1700" b="0" i="0">
                <a:solidFill>
                  <a:srgbClr val="1A1A1A"/>
                </a:solidFill>
              </a:rPr>
              <a:t>     •  Diferença entre os 5 equipamentos</a:t>
            </a:r>
          </a:p>
          <a:p>
            <a:pPr algn="l"/>
            <a:r>
              <a:rPr sz="1700" b="0" i="0">
                <a:solidFill>
                  <a:srgbClr val="1A1A1A"/>
                </a:solidFill>
              </a:rPr>
              <a:t>     •  Reconhecer a porta WAN</a:t>
            </a:r>
          </a:p>
          <a:p>
            <a:pPr algn="l"/>
            <a:r>
              <a:rPr sz="1700" b="0" i="0">
                <a:solidFill>
                  <a:srgbClr val="1A1A1A"/>
                </a:solidFill>
              </a:rPr>
              <a:t>     •  Ler as luzes do painel</a:t>
            </a:r>
          </a:p>
          <a:p>
            <a:pPr algn="l"/>
            <a:r>
              <a:rPr sz="1700" b="0" i="0">
                <a:solidFill>
                  <a:srgbClr val="1A1A1A"/>
                </a:solidFill>
              </a:rPr>
              <a:t>     •  Etapas 1-3 × etapas 4-6</a:t>
            </a:r>
          </a:p>
          <a:p>
            <a:pPr algn="l"/>
            <a:r>
              <a:rPr sz="1700" b="0" i="0">
                <a:solidFill>
                  <a:srgbClr val="1A1A1A"/>
                </a:solidFill>
              </a:rPr>
              <a:t>     •  Cenários de chamado</a:t>
            </a:r>
          </a:p>
          <a:p>
            <a:pPr algn="l"/>
            <a:r>
              <a:rPr sz="1700" b="0" i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1700" b="0" i="0">
                <a:solidFill>
                  <a:srgbClr val="1A1A1A"/>
                </a:solidFill>
              </a:rPr>
              <a:t>Resposta em 5 segundos. Alterna entre times.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O RESUMO DA NOITE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Não tem internet dentro da caixinha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743200"/>
            <a:ext cx="1088136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</a:rPr>
              <a:t>•  Ela é só a ponta de um caminho que começa do outro lado do mundo.</a:t>
            </a:r>
          </a:p>
          <a:p>
            <a:pPr algn="l"/>
            <a:r>
              <a:rPr sz="2000" b="0" i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2000" b="0" i="0">
                <a:solidFill>
                  <a:srgbClr val="1A1A1A"/>
                </a:solidFill>
              </a:rPr>
              <a:t>•  Seu trabalho começa no poste da rua e termina na tela do cliente.</a:t>
            </a:r>
          </a:p>
          <a:p>
            <a:pPr algn="l"/>
            <a:r>
              <a:rPr sz="2000" b="0" i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2000" b="0" i="0">
                <a:solidFill>
                  <a:srgbClr val="1A1A1A"/>
                </a:solidFill>
              </a:rPr>
              <a:t>•  Tudo que vem antes disso é com o provedor.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FECHANDO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Seis perguntas para conferir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88136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</a:rPr>
              <a:t>1.  Qual é a diferença entre modem e roteador?</a:t>
            </a:r>
          </a:p>
          <a:p>
            <a:pPr algn="l"/>
            <a:r>
              <a:rPr sz="1600" b="0" i="0">
                <a:solidFill>
                  <a:srgbClr val="1A1A1A"/>
                </a:solidFill>
              </a:rPr>
              <a:t>2.  O switch cria rede? O que ele faz então?</a:t>
            </a:r>
          </a:p>
          <a:p>
            <a:pPr algn="l"/>
            <a:r>
              <a:rPr sz="1600" b="0" i="0">
                <a:solidFill>
                  <a:srgbClr val="1A1A1A"/>
                </a:solidFill>
              </a:rPr>
              <a:t>3.  Como você reconhece a porta WAN num roteador que nunca viu?</a:t>
            </a:r>
          </a:p>
          <a:p>
            <a:pPr algn="l"/>
            <a:r>
              <a:rPr sz="1600" b="0" i="0">
                <a:solidFill>
                  <a:srgbClr val="1A1A1A"/>
                </a:solidFill>
              </a:rPr>
              <a:t>4.  O que acontece se o cabo do provedor for ligado numa porta LAN?</a:t>
            </a:r>
          </a:p>
          <a:p>
            <a:pPr algn="l"/>
            <a:r>
              <a:rPr sz="1600" b="0" i="0">
                <a:solidFill>
                  <a:srgbClr val="1A1A1A"/>
                </a:solidFill>
              </a:rPr>
              <a:t>5.  Por que o Wi-Fi do quarto costuma ser pior que o da sala?</a:t>
            </a:r>
          </a:p>
          <a:p>
            <a:pPr algn="l"/>
            <a:r>
              <a:rPr sz="1600" b="0" i="0">
                <a:solidFill>
                  <a:srgbClr val="1A1A1A"/>
                </a:solidFill>
              </a:rPr>
              <a:t>6.  A luz de fibra está apagada. Onde está o problema?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O QUE FICA DESTA NOITE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Cinco coisas para levar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743200"/>
            <a:ext cx="1088136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1A1A1A"/>
                </a:solidFill>
              </a:rPr>
              <a:t>•  A internet vem de longe e passa por seis etapas até você</a:t>
            </a:r>
          </a:p>
          <a:p>
            <a:pPr algn="l"/>
            <a:r>
              <a:rPr sz="1700" b="0" i="0">
                <a:solidFill>
                  <a:srgbClr val="1A1A1A"/>
                </a:solidFill>
              </a:rPr>
              <a:t>•  Só o roteador cria rede — os outros ajudam</a:t>
            </a:r>
          </a:p>
          <a:p>
            <a:pPr algn="l"/>
            <a:r>
              <a:rPr sz="1700" b="0" i="0">
                <a:solidFill>
                  <a:srgbClr val="1A1A1A"/>
                </a:solidFill>
              </a:rPr>
              <a:t>•  A porta WAN é diferente, e trocar ela é o erro mais comum</a:t>
            </a:r>
          </a:p>
          <a:p>
            <a:pPr algn="l"/>
            <a:r>
              <a:rPr sz="1700" b="0" i="0">
                <a:solidFill>
                  <a:srgbClr val="1A1A1A"/>
                </a:solidFill>
              </a:rPr>
              <a:t>•  A etiqueta embaixo tem tudo que o suporte vai pedir</a:t>
            </a:r>
          </a:p>
          <a:p>
            <a:pPr algn="l"/>
            <a:r>
              <a:rPr sz="1700" b="0" i="0">
                <a:solidFill>
                  <a:srgbClr val="1A1A1A"/>
                </a:solidFill>
              </a:rPr>
              <a:t>•  As luzes do painel dizem onde está o problema antes de você abrir nada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PARA A PRÓXIMA NOITE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Por onde o sinal viaja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881360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</a:rPr>
              <a:t>Uma tarefa simples:</a:t>
            </a:r>
          </a:p>
          <a:p>
            <a:pPr algn="l"/>
            <a:r>
              <a:rPr sz="1500" b="0" i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1500" b="0" i="0">
                <a:solidFill>
                  <a:srgbClr val="1A1A1A"/>
                </a:solidFill>
              </a:rPr>
              <a:t>•  Ler a etiqueta do roteador da sua casa</a:t>
            </a:r>
          </a:p>
          <a:p>
            <a:pPr algn="l"/>
            <a:r>
              <a:rPr sz="1500" b="0" i="0">
                <a:solidFill>
                  <a:srgbClr val="1A1A1A"/>
                </a:solidFill>
              </a:rPr>
              <a:t>•  Anotar marca, modelo, velocidade do Wi-Fi e se é Dual Band (senha NÃO)</a:t>
            </a:r>
          </a:p>
          <a:p>
            <a:pPr algn="l"/>
            <a:r>
              <a:rPr sz="1500" b="0" i="0">
                <a:solidFill>
                  <a:srgbClr val="1A1A1A"/>
                </a:solidFill>
              </a:rPr>
              <a:t>•  Senha não se anota nem se fotografa — tampe com o dedo</a:t>
            </a:r>
          </a:p>
          <a:p>
            <a:pPr algn="l"/>
            <a:r>
              <a:rPr sz="1500" b="0" i="0">
                <a:solidFill>
                  <a:srgbClr val="1A1A1A"/>
                </a:solidFill>
              </a:rPr>
              <a:t>•  Trazer anotado — vamos comparar os aparelhos da turma</a:t>
            </a:r>
          </a:p>
          <a:p>
            <a:pPr algn="l"/>
            <a:r>
              <a:rPr sz="1500" b="0" i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1500" b="0" i="0">
                <a:solidFill>
                  <a:srgbClr val="1A1A1A"/>
                </a:solidFill>
              </a:rPr>
              <a:t>Quem não tem roteador em casa: olhe o de um parente ou vizinho.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