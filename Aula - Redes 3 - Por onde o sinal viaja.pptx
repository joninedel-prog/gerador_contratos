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0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8B1A"/>
                </a:solidFill>
              </a:rPr>
              <a:t>NOITE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POR ONDE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O SINAL VIAJA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Cabo, fibra e ondas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Redes de Computadores · Curso FIC · CEJA Itapiranga – 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RETOMADA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Os 5 equipamentos da Noite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Jogo relâmpago: eu digo a frase, você diz o equipamento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"Não cria rede, só tem uma porta de saída"   →   Modem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"Cria rede e distribui pra casa toda"   →   Roteador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"Aumenta o número de portas de cabo"   →   Switch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"Leva Wi-Fi onde o roteador não alcança"   →   Ponto de acesso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"Onde o cabo entra no computador"   →   Placa de rede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 PERGUNTA DA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Como a informação sai de um equipamento e chega no outro?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881360" cy="3200400"/>
          </a:xfrm>
          <a:prstGeom prst="roundRect">
            <a:avLst/>
          </a:prstGeom>
          <a:solidFill>
            <a:srgbClr val="FFFFFF"/>
          </a:solidFill>
          <a:ln w="20000">
            <a:solidFill>
              <a:srgbClr val="0B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Existem só três meios de transmissão.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Todo equipamento de rede que a gente viu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se conecta com outro por um deles.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Não existe um quarto.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OS TRÊS MEIOS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Cabo · Fibra · Onda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3657600" cy="2743200"/>
          </a:xfrm>
          <a:prstGeom prst="round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CABO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20624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Pulsos elétricos correndo dentro de fio de cobre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657600" cy="2743200"/>
          </a:xfrm>
          <a:prstGeom prst="round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2918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FIBRA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20624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Pulsos de luz correndo dentro de vidro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743200"/>
            <a:ext cx="3657600" cy="2743200"/>
          </a:xfrm>
          <a:prstGeom prst="round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32918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ONDA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9" y="420624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Sinal de rádio no 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E88B1A"/>
                </a:solidFill>
              </a:rPr>
              <a:t>Elétron. Luz. Onda. Três jeitos de mover a mesma informação.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DE UMA OLHADA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que muda entre os três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560320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2560320"/>
                <a:gridCol w="3200400"/>
              </a:tblGrid>
              <a:tr h="579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Cabo (par trançado)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Fibra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Onda (Wi-Fi/celular)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Alcance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Até 100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Km sem repetir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Wi-Fi: metros. Celular: km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Velocidade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Muito 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Depende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Interferência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Sofre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Não sofre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Sofre muito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Custo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Barato por metro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Caro, mas caiu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Sem 'por metro'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Quem instala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Você (Noite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Equipe do provedor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Não instala — configura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 REGRA DE BOLSO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Como escolher o meio no chamado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560320"/>
            <a:ext cx="822960" cy="822960"/>
          </a:xfrm>
          <a:prstGeom prst="ellipse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39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060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Vai passar mais de 100 metros?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0632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1">
                <a:solidFill>
                  <a:srgbClr val="E88B1A"/>
                </a:solidFill>
              </a:rPr>
              <a:t>→ Fibra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57600"/>
            <a:ext cx="822960" cy="822960"/>
          </a:xfrm>
          <a:prstGeom prst="ellipse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703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O aparelho fica parado no mesmo lugar?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160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1">
                <a:solidFill>
                  <a:srgbClr val="E88B1A"/>
                </a:solidFill>
              </a:rPr>
              <a:t>→ Cabo (mais estável)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754880"/>
            <a:ext cx="822960" cy="822960"/>
          </a:xfrm>
          <a:prstGeom prst="ellipse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O aparelho se mexe (celular, notebook)?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257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1">
                <a:solidFill>
                  <a:srgbClr val="E88B1A"/>
                </a:solidFill>
              </a:rPr>
              <a:t>→ Wi-Fi (é o único jeito)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555555"/>
                </a:solidFill>
              </a:rPr>
              <a:t>Vale em 80% dos casos.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CABO EM DETALHE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Nome técnico: PAR TRANÇADO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</a:rPr>
              <a:t>Por que trançado?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Dentro tem 8 fios, em 4 pares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Cada par é trançado sobre si mesmo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A trança protege o sinal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Contra a interferência do próximo par e do ambiente externo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Não é enfeite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Se destrançar demais na ponta ao crimpar, o cabo perde qualidade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CATEGORIAS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Cat5e, Cat6, Cat6a — o que muda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56032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3657600"/>
                <a:gridCol w="2103120"/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Categoria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 que suporta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Onde a gente vê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Preço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Cat5e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Até 1 Gbps, 100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Casa comum, obra antiga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Mais barato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Cat6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1 Gbps sem esforço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Instalação nova, escritório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Um pouco mais caro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Cat6a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10 Gbps até 100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Data center, prédio corporativo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Bem mais caro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Cat7, Cat8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Especializado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Quase nunca vê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Caro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Pra 99% dos chamados: Cat5e ou Cat6. Não venda Cat6a pra casa.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BLINDAGEM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UTP × Blindado — quando cada um faz sentido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UTP (não blindado)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O comum. Barato. Mais fino. Mais fácil de crimpar.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STP / FTP (blindado)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Tem folha metálica protegendo. Usa em ambiente com muita interferência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  (indústria, perto de motor grande)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29200"/>
            <a:ext cx="10881360" cy="914400"/>
          </a:xfrm>
          <a:prstGeom prst="roundRect">
            <a:avLst/>
          </a:prstGeom>
          <a:solidFill>
            <a:srgbClr val="FFFFFF"/>
          </a:solidFill>
          <a:ln w="20000">
            <a:solidFill>
              <a:srgbClr val="E88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1A1A1A"/>
                </a:solidFill>
              </a:rPr>
              <a:t>Regra prática: se o cliente não tem torno mecânico no quintal, não precisa de blindado.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 CAPA CONTA A HISTÓRIA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Ler como quem lê rótulo de remédio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•  Marca (Furukawa, Nexans, marcas genéricas)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Categoria (CAT5E, CAT6)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Tipo (UTP, FTP)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Certificação (CMR = uso interno, CMX = uso externo)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Metragem impressa a cada metro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1">
                <a:solidFill>
                  <a:srgbClr val="E88B1A"/>
                </a:solidFill>
              </a:rPr>
              <a:t>O truque do técnico: subtrair a marca do início pela do fim. Sabe o comprimento sem esticar o cabo.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35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Identificar cabos em bancada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</a:rPr>
              <a:t>1. Equipes de 3 ou 4 pessoas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2. Cada equipe recebe (ou roda pelas) mesas com cabos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3. Para cada cabo, anota na ficha: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   — Tipo (par trançado? coaxial? telefone? energia?)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   — Categoria (se par trançado)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   — Blindagem, estado do conector, comprimento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     — Onde ele seria adequado usar</a:t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600" b="0" i="0">
                <a:solidFill>
                  <a:srgbClr val="1A1A1A"/>
                </a:solidFill>
              </a:rPr>
              <a:t>4. No fim, cada equipe apresenta 1 cabo pra turma inteira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FIBRA ÓPTICA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Um fio de vidro do tamanho de um cabelo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•  Um LED ou laser manda pulsos de luz por dentro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Do outro lado, um sensor lê os pulsos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Como é luz e não elétron, não sofre interferência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Distância enorme: 40 km sem repetir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Frágil: dobra demais e quebra. Emenda precisa de máquina.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555555"/>
                </a:solidFill>
              </a:rPr>
              <a:t>Vocês trabalham do roteador da casa pra dentro. Emenda de fibra é serviço do provedor.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ONDAS DE RÁDIO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Wi-Fi, Bluetooth, celular e satélite — mesma família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</a:rPr>
              <a:t>•  Wi-Fi        onda curta, alcance de metros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Bluetooth    onda mais curta, alcance de metros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Celular      onda da antena da operadora, alcance de km</a:t>
            </a:r>
          </a:p>
          <a:p>
            <a:pPr algn="l"/>
            <a:r>
              <a:rPr sz="1800" b="0" i="0">
                <a:solidFill>
                  <a:srgbClr val="1A1A1A"/>
                </a:solidFill>
              </a:rPr>
              <a:t>•  Satélite     onda que vem do espaço, alcance planetário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1">
                <a:solidFill>
                  <a:srgbClr val="0B5C5C"/>
                </a:solidFill>
              </a:rPr>
              <a:t>Todas são a mesma coisa: onda de rádio. O que muda é frequência e potência.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AS DUAS FAIXAS DO WI-FI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2,4 GHz × 5 GHz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560320"/>
          <a:ext cx="1088135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657600"/>
                <a:gridCol w="3749039"/>
              </a:tblGrid>
              <a:tr h="579120">
                <a:tc>
                  <a:txBody>
                    <a:bodyPr/>
                    <a:lstStyle/>
                    <a:p/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2,4 GHz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5 GHz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Alcance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Maior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Menor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Velocidade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Menor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Maior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Atravessa parede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Melhor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Com dificuldade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Disputa com vizinhos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Muita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Bem menos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Aparelho antigo enxerga?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Nem sempre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Wi-Fi Scan com o próprio celular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App: Wi-Fi Analyzer (Android, grátis)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Em duplas, anotem: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— Quantas redes vocês estão vendo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— A mais forte e a mais fraca (nome e força em dBm)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— Quantas no canal 1, no 6, no 11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— Tem alguma em 5 GHz?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— Qual é a rede da escola? Que canal?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Depois: andem pela sala e vejam como a força muda.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Escolher o meio pra 4 cenários reais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Cada equipe recebe os quatro cenários.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Para cada um, respondem: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•  Qual meio usar (cabo, fibra, Wi-Fi)?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•  Se cabo, qual categoria?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     •  Por quê?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Depois, cada equipe apresenta 1 cenário (sorteio).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CENÁRIO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Casa térrea, 80 m², sala com roteador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Cliente quer: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     •  TV com Netflix na sala (2 m do roteador)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     •  Notebook do filho no quarto (10 m, uma parede)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     •  Wi-Fi no quintal pra celular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Como conectar cada aparelho?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CENÁRIO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Sobrado — roteador no térreo, escritório em cima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Cliente reclama: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     •  Wi-Fi do escritório é ruim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     •  Fica 8 m acima e uma laje entre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     •  Ele quer PC parado no escritório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Qual solução?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CENÁRIO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Comércio pequeno com 4 caixas registradoras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Loja de 200 m².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     •  Sinal do provedor entra na sala de estoque (fundo)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     •  4 caixas ficam na frente da loja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     •  Não pode cair no meio da venda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Rede sem fio ou cabo? Se cabo, categoria? Metros?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CENÁRIO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Galpão 40 × 30 m, sem paredes internas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     •  Escritório numa ponta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     •  Área de estoque no resto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     •  Precisa Wi-Fi cobrindo tudo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Como resolver?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Dica: uma solução só não resolve. Precisa combinar meios.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50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Agora vocês são a empresa: monte o orçamento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•  Cada equipe orça 2 cenários (sorteio)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Abram o modelo de planilha no LibreOffice Calc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Pesquisem preços reais na internet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No final, cada equipe apresenta: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     a solução  ·  o valor total  ·  o porquê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REGRAS DO ORÇAMENTO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que não pode faltar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✔  Link de cada item — de onde veio o preço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✔  Quantidade pensada — quantos metros? quantos conectores?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✔  Frete — ou "retirada na loja"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✔  Mão de obra — técnico não trabalha de graça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✔  Justificativa — por que essa solução e não outra?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1">
                <a:solidFill>
                  <a:srgbClr val="C5362B"/>
                </a:solidFill>
              </a:rPr>
              <a:t>Orçamento sem link e sem justificativa não vale ponto.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DEBATE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Mesmo problema, preços diferentes. Por quê?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•  Metragem diferente?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Cat5e ou Cat6?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Loja diferente?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Equipamento mais caro do que precisava?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Alguém esqueceu algum item?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B5C5C"/>
                </a:solidFill>
              </a:rPr>
              <a:t>Se você fosse o cliente, contrataria qual equipe?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DUELO RELÂMPAGO · 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Time A × Time B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•  Turma dividida em dois times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Pergunta rápida, resposta em 5 segundos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Alterna entre os times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Ponto pra quem acertar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Empate = pergunta bônus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Regra: se a resposta demorar mais de 5 segundos, passa pro outro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RESUMO DA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Quatro ideias que ficam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8813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</a:rPr>
              <a:t>•  Existem só três meios de transmissão: cabo, fibra e ondas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Cabo é padrão pra conexão fixa e curta. Fibra pra longa distância. Onda pra quem se mexe.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Cat5e ou Cat6 resolve a casa comum. Não venda Cat6a sem motivo.</a:t>
            </a:r>
          </a:p>
          <a:p>
            <a:pPr algn="l"/>
            <a:r>
              <a:rPr sz="1900" b="0" i="0">
                <a:solidFill>
                  <a:srgbClr val="1A1A1A"/>
                </a:solidFill>
              </a:rPr>
              <a:t>•  A capa do cabo conta tudo — marca, categoria, tipo e metragem.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FECHANDO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Cinco perguntas para conferir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1. Como você reconhece um cabo par trançado sem abrir a capa?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2. Diferença entre Cat5e e Cat6, na prática?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3. Fibra ou cabo pra uma sala 8 m de distância?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4. 5 GHz é melhor ou pior que 2,4 GHz? Depende do quê?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5. Cliente diz "vizinho tá roubando meu Wi-Fi". O que a aula ajuda a entender?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QUE FICA DESTA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Cinco coisas para levar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</a:rPr>
              <a:t>•  Três meios: cabo, fibra, ondas. Cada um resolve num lugar.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Cabo par trançado: 8 fios, 4 pares. Não destrance na ponta.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Cat5e ou Cat6 pra casa. Blindado só onde tem interferência de indústria.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Wi-Fi tem duas faixas: 2,4 GHz (alcance) e 5 GHz (velocidade).</a:t>
            </a:r>
          </a:p>
          <a:p>
            <a:pPr algn="l"/>
            <a:r>
              <a:rPr sz="1700" b="0" i="0">
                <a:solidFill>
                  <a:srgbClr val="1A1A1A"/>
                </a:solidFill>
              </a:rPr>
              <a:t>•  A capa do cabo tem tudo que você precisa — marca, categoria e a metragem.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PARA A PRÓXIMA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alicate entra em cena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</a:rPr>
              <a:t>Tarefa desta semana: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•  Prestem atenção em três cabos que encontrarem em casa, trabalho ou rua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•  Fotografem a capa se der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•  Anotem tipo, marca, categoria e onde ele estava ligado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Bônus: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Se acharem um cabo com conector quebrado, tragam.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     Vai virar exemplo na Noite 4.</a:t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500" b="0" i="0">
                <a:solidFill>
                  <a:srgbClr val="1A1A1A"/>
                </a:solidFill>
              </a:rPr>
              <a:t>Na Noite 4: cada um crimpa o próprio cabo. Manga curta ou dobrada — a bancada suja.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