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389120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88B1A"/>
                </a:solidFill>
              </a:rPr>
              <a:t>NOITE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</a:rPr>
              <a:t>CABO NÃO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</a:rPr>
              <a:t>SE CHUTA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FFFFFF"/>
                </a:solidFill>
              </a:rPr>
              <a:t>Testando cabos e resolvendo cabos ruins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</a:rPr>
              <a:t>Redes de Computadores · Curso FIC · CEJA Itapiranga – SC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RETOMADA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Da Noite 4 pra hoje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</a:rPr>
              <a:t>•  Diga o T568B, do pino 1 ao 8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Qual o erro número um da crimpagem?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O que segura o cabo depois de crimpado?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Coloque seu cabo da Noite 4 na mesa, com seu nome na fita.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E88B1A"/>
                </a:solidFill>
              </a:rPr>
              <a:t>A PERGUNTA DA NOITE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0B5C5C"/>
                </a:solidFill>
              </a:rPr>
              <a:t>A internet do cliente está ruim.</a:t>
            </a:r>
          </a:p>
          <a:p>
            <a:pPr algn="ctr"/>
            <a:r>
              <a:rPr sz="3600" b="1" i="0">
                <a:solidFill>
                  <a:srgbClr val="0B5C5C"/>
                </a:solidFill>
              </a:rPr>
              <a:t>Como você PROVA que o cabo</a:t>
            </a:r>
          </a:p>
          <a:p>
            <a:pPr algn="ctr"/>
            <a:r>
              <a:rPr sz="3600" b="1" i="0">
                <a:solidFill>
                  <a:srgbClr val="0B5C5C"/>
                </a:solidFill>
              </a:rPr>
              <a:t>é o culpado — ou que é inocente?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TRÊS JEITOS DE TESTAR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Do mais simples ao mais esperto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</a:rPr>
              <a:t>1.  Testador de LED — conta fio por fio</a:t>
            </a:r>
          </a:p>
          <a:p>
            <a:pPr algn="l"/>
            <a:r>
              <a:rPr sz="2600" b="0" i="0">
                <a:solidFill>
                  <a:srgbClr val="1A1A1A"/>
                </a:solidFill>
              </a:rPr>
              <a:t>2.  Luz da porta — diz se conectou</a:t>
            </a:r>
          </a:p>
          <a:p>
            <a:pPr algn="l"/>
            <a:r>
              <a:rPr sz="2600" b="0" i="0">
                <a:solidFill>
                  <a:srgbClr val="1A1A1A"/>
                </a:solidFill>
              </a:rPr>
              <a:t>3.  Velocidade do link — diz se conectou BEM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JEITO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O testador de LED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</a:rPr>
              <a:t>•  Duas peças: principal e remota, uma em cada ponta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Os LEDs acendem de 1 a 8, nas duas, na mesma ordem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LED faltando: o fio não chega do outro lado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LED fora de ordem: cor trocada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Dois LEDs juntos: fios encostando (curto)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1">
                <a:solidFill>
                  <a:srgbClr val="E88B1A"/>
                </a:solidFill>
              </a:rPr>
              <a:t>O testador conta qual fio sai de onde e chega aonde.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JEITO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A luz da porta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</a:rPr>
              <a:t>•  Liga o cabo entre o roteador e o computador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Acendeu: tem conexão elétrica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Piscando: está passando dado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Apagada: não conectou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1">
                <a:solidFill>
                  <a:srgbClr val="C5362B"/>
                </a:solidFill>
              </a:rPr>
              <a:t>A luz diz se o cabo conectou. Não diz se ele está bom.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JEITO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A velocidade do link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</a:rPr>
              <a:t>Windows: Central de Rede → Ethernet → Status → Velocidade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1,0 Gbps — os 4 pares funcionando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100 Mbps — alguma coisa está limitando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Sem conexão — nem conectou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POR QUE CAI PRA 100?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100 Mbps usa 2 pares. 1 Gbps usa os 4.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377440"/>
          <a:ext cx="10881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697480"/>
                <a:gridCol w="2697480"/>
              </a:tblGrid>
              <a:tr h="65836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Par</a:t>
                      </a:r>
                    </a:p>
                  </a:txBody>
                  <a:tcPr>
                    <a:solidFill>
                      <a:srgbClr val="0B5C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Pinos</a:t>
                      </a:r>
                    </a:p>
                  </a:txBody>
                  <a:tcPr>
                    <a:solidFill>
                      <a:srgbClr val="0B5C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100 Mbps</a:t>
                      </a:r>
                    </a:p>
                  </a:txBody>
                  <a:tcPr>
                    <a:solidFill>
                      <a:srgbClr val="0B5C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1 Gbps</a:t>
                      </a:r>
                    </a:p>
                  </a:txBody>
                  <a:tcPr>
                    <a:solidFill>
                      <a:srgbClr val="0B5C5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</a:rPr>
                        <a:t>Laranja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</a:rPr>
                        <a:t>1 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</a:rPr>
                        <a:t>usa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</a:rPr>
                        <a:t>usa</a:t>
                      </a:r>
                    </a:p>
                  </a:txBody>
                  <a:tcPr/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</a:rPr>
                        <a:t>Verde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</a:rPr>
                        <a:t>3 e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</a:rPr>
                        <a:t>usa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</a:rPr>
                        <a:t>usa</a:t>
                      </a:r>
                    </a:p>
                  </a:txBody>
                  <a:tcPr/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</a:rPr>
                        <a:t>Azul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</a:rPr>
                        <a:t>4 e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</a:rPr>
                        <a:t>usa</a:t>
                      </a:r>
                    </a:p>
                  </a:txBody>
                  <a:tcPr/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</a:rPr>
                        <a:t>Marrom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</a:rPr>
                        <a:t>7 e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</a:rPr>
                        <a:t>usa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1">
                <a:solidFill>
                  <a:srgbClr val="E88B1A"/>
                </a:solidFill>
              </a:rPr>
              <a:t>Faltou um fio do azul ou do marrom? Funciona… em 100. O cliente nem percebe que é o cabo.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E88B1A"/>
                </a:solidFill>
              </a:rPr>
              <a:t>O DEFEITO MAIS TRAIÇOEIRO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0B5C5C"/>
                </a:solidFill>
              </a:rPr>
              <a:t>"Contratei 500 Mega</a:t>
            </a:r>
          </a:p>
          <a:p>
            <a:pPr algn="ctr"/>
            <a:r>
              <a:rPr sz="3600" b="1" i="0">
                <a:solidFill>
                  <a:srgbClr val="0B5C5C"/>
                </a:solidFill>
              </a:rPr>
              <a:t>e o teste dá 94."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LEMBRA DA NOITE 2?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O limite pode estar no aparelho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</a:rPr>
              <a:t>•  TL-WR840N: portas de 100 Mbps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Archer C5: portas Gigabit (1000 Mbps)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No 840N, o teste nunca mostra 1 Gbps — nem com cabo perfeito.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Antes de condenar o cabo, confira a porta.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PRÁTICA · 25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Teste o SEU cabo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</a:rPr>
              <a:t>1.  Testador (se tiver) — anote os LEDs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2.  Roteador + computador — a luz da porta acendeu?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3.  Status da Ethernet — qual a velocidade?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Anote na página 1 da folha.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O QUE O TESTE ESTÁ DIZENDO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Resultado → defeito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377440"/>
          <a:ext cx="10881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743200"/>
                <a:gridCol w="4480560"/>
              </a:tblGrid>
              <a:tr h="470262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O teste mostra…</a:t>
                      </a:r>
                    </a:p>
                  </a:txBody>
                  <a:tcPr>
                    <a:solidFill>
                      <a:srgbClr val="0B5C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Defeito</a:t>
                      </a:r>
                    </a:p>
                  </a:txBody>
                  <a:tcPr>
                    <a:solidFill>
                      <a:srgbClr val="0B5C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Causa comum</a:t>
                      </a:r>
                    </a:p>
                  </a:txBody>
                  <a:tcPr>
                    <a:solidFill>
                      <a:srgbClr val="0B5C5C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Um LED não acende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Pino aberto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Fio curto, crimp fraco</a:t>
                      </a:r>
                    </a:p>
                  </a:txBody>
                  <a:tcPr/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LEDs fora de ordem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Cor trocada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Sequência errada</a:t>
                      </a:r>
                    </a:p>
                  </a:txBody>
                  <a:tcPr/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Dois LEDs juntos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Curto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Fios encostando</a:t>
                      </a:r>
                    </a:p>
                  </a:txBody>
                  <a:tcPr/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1↔3 e 2↔6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Cabo cruzado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B numa ponta, A na outra</a:t>
                      </a:r>
                    </a:p>
                  </a:txBody>
                  <a:tcPr/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Conecta em 100 Mbps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Par partido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Azul ou marrom falhando</a:t>
                      </a:r>
                    </a:p>
                  </a:txBody>
                  <a:tcPr/>
                </a:tc>
              </a:tr>
              <a:tr h="47026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Cai quando mexe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Mau contato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Capa fora, crimp fraco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TRÊS AVISOS DE CAMPO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O que o livro não conta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</a:rPr>
              <a:t>•  Testador simples não pega tudo. Teste também no uso.</a:t>
            </a:r>
          </a:p>
          <a:p>
            <a:pPr algn="l"/>
            <a:r>
              <a:rPr sz="1900" b="0" i="0">
                <a:solidFill>
                  <a:srgbClr val="1A1A1A"/>
                </a:solidFill>
              </a:rPr>
              <a:t>•  Nem todo defeito está na ponta: porta, cadeira e grampo esmagam cabo.</a:t>
            </a:r>
          </a:p>
          <a:p>
            <a:pPr algn="l"/>
            <a:r>
              <a:rPr sz="1900" b="0" i="0">
                <a:solidFill>
                  <a:srgbClr val="1A1A1A"/>
                </a:solidFill>
              </a:rPr>
              <a:t>•  Cabo de alumínio (CCA): raspe o fio. Prateado por dentro = não é cobre.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E88B1A"/>
                </a:solidFill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1A1A1A"/>
                </a:solidFill>
              </a:rPr>
              <a:t>INTERVALO</a:t>
            </a:r>
          </a:p>
          <a:p>
            <a:pPr algn="ctr"/>
            <a:r>
              <a:rPr sz="3600" b="1" i="0">
                <a:solidFill>
                  <a:srgbClr val="1A1A1A"/>
                </a:solidFill>
              </a:rPr>
              <a:t>15 minutos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PRÁTICA · 45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Clínica de cabos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</a:rPr>
              <a:t>•  Equipes de 3. Sete cabos: C1 a C7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~6 minutos por cabo, depois passa pra próxima equipe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Primeiro OLHA. Depois TESTA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Escreve o laudo na página 2 da folha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Ainda não pode consertar — só diagnosticar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1">
                <a:solidFill>
                  <a:srgbClr val="E88B1A"/>
                </a:solidFill>
              </a:rPr>
              <a:t>Atenção: nem todo cabo da mesa está com defeito.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PRÁTICA · 25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Conserto e reteste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</a:rPr>
              <a:t>•  Ponta ruim: corta o conector, decapa de novo, crimpa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Defeito no meio: corta o pedaço ruim ou declara o cabo perdido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Só está consertado se passar no reteste: testador + 1 Gbps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TESTE DO BALANÇO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Pegando o mau contato no flagra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</a:rPr>
              <a:t>Prompt de Comando:   ping -t 192.168.0.1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Balance o conector com o ping rodando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"Esgotado o tempo limite" = pacote perdido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Ctrl+C para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1">
                <a:solidFill>
                  <a:srgbClr val="E88B1A"/>
                </a:solidFill>
              </a:rPr>
              <a:t>O 192.168.0.1 é o endereço do roteador. Na Noite 6 a gente entende.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O MÉTODO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Olhar · Testar · Isolar · Resolver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377440"/>
          <a:ext cx="10881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138160"/>
              </a:tblGrid>
              <a:tr h="65836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Passo</a:t>
                      </a:r>
                    </a:p>
                  </a:txBody>
                  <a:tcPr>
                    <a:solidFill>
                      <a:srgbClr val="0B5C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O que fazer</a:t>
                      </a:r>
                    </a:p>
                  </a:txBody>
                  <a:tcPr>
                    <a:solidFill>
                      <a:srgbClr val="0B5C5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</a:rPr>
                        <a:t>1. OLHAR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</a:rPr>
                        <a:t>Conector, capa, trajeto do cabo</a:t>
                      </a:r>
                    </a:p>
                  </a:txBody>
                  <a:tcPr/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</a:rPr>
                        <a:t>2. TESTAR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</a:rPr>
                        <a:t>Testador, luz, velocidade — anota</a:t>
                      </a:r>
                    </a:p>
                  </a:txBody>
                  <a:tcPr/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</a:rPr>
                        <a:t>3. ISOLAR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</a:rPr>
                        <a:t>Troca UMA coisa por vez</a:t>
                      </a:r>
                    </a:p>
                  </a:txBody>
                  <a:tcPr/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</a:rPr>
                        <a:t>4. RESOLVER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</a:rPr>
                        <a:t>Refaz, troca ou passa pro próximo suspeito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E88B1A"/>
                </a:solidFill>
              </a:rPr>
              <a:t>O CABO-TESTEMUNHA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0B5C5C"/>
                </a:solidFill>
              </a:rPr>
              <a:t>Ande sempre com um cabo</a:t>
            </a:r>
          </a:p>
          <a:p>
            <a:pPr algn="ctr"/>
            <a:r>
              <a:rPr sz="3600" b="1" i="0">
                <a:solidFill>
                  <a:srgbClr val="0B5C5C"/>
                </a:solidFill>
              </a:rPr>
              <a:t>que você SABE que está bom.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ROLE-PLAY · 20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Chamados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•  "No celular dá 280 Mega, no computador do cabo dá 94."</a:t>
            </a:r>
          </a:p>
          <a:p>
            <a:pPr algn="l"/>
            <a:r>
              <a:rPr sz="1800" b="0" i="0">
                <a:solidFill>
                  <a:srgbClr val="1A1A1A"/>
                </a:solidFill>
              </a:rPr>
              <a:t>•  "A internet cai toda vez que eu arrasto a cadeira."</a:t>
            </a:r>
          </a:p>
          <a:p>
            <a:pPr algn="l"/>
            <a:r>
              <a:rPr sz="1800" b="0" i="0">
                <a:solidFill>
                  <a:srgbClr val="1A1A1A"/>
                </a:solidFill>
              </a:rPr>
              <a:t>•  "Mudei o móvel e agora diz 'cabo de rede desconectado'."</a:t>
            </a:r>
          </a:p>
          <a:p>
            <a:pPr algn="l"/>
            <a:r>
              <a:rPr sz="1800" b="0" i="0">
                <a:solidFill>
                  <a:srgbClr val="1A1A1A"/>
                </a:solidFill>
              </a:rPr>
              <a:t>•  "Passaram um cabo de 40 m pelo forro e desde então tá ruim."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1">
                <a:solidFill>
                  <a:srgbClr val="E88B1A"/>
                </a:solidFill>
              </a:rPr>
              <a:t>Técnico: diga o que faria em cada um dos 4 passos.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DUELO RELÂMPAGO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Time A × Time B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</a:rPr>
              <a:t>•  5 segundos pra responder</a:t>
            </a:r>
          </a:p>
          <a:p>
            <a:pPr algn="l"/>
            <a:r>
              <a:rPr sz="2400" b="0" i="0">
                <a:solidFill>
                  <a:srgbClr val="1A1A1A"/>
                </a:solidFill>
              </a:rPr>
              <a:t>•  Errou, passa pro outro time</a:t>
            </a:r>
          </a:p>
          <a:p>
            <a:pPr algn="l"/>
            <a:r>
              <a:rPr sz="2400" b="0" i="0">
                <a:solidFill>
                  <a:srgbClr val="1A1A1A"/>
                </a:solidFill>
              </a:rPr>
              <a:t>•  Vale ponto quem explicar o porquê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O QUE FICA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Três frases pra guardar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</a:rPr>
              <a:t>"Cabo não se chuta. Cabo se testa."</a:t>
            </a:r>
          </a:p>
          <a:p>
            <a:pPr algn="l"/>
            <a:r>
              <a:rPr sz="24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2400" b="0" i="0">
                <a:solidFill>
                  <a:srgbClr val="1A1A1A"/>
                </a:solidFill>
              </a:rPr>
              <a:t>"Luz acesa não é cabo bom. Olhe a velocidade."</a:t>
            </a:r>
          </a:p>
          <a:p>
            <a:pPr algn="l"/>
            <a:r>
              <a:rPr sz="24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2400" b="0" i="0">
                <a:solidFill>
                  <a:srgbClr val="1A1A1A"/>
                </a:solidFill>
              </a:rPr>
              <a:t>"Troque uma coisa por vez."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PARA A PRÓXIMA NOITE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Endereço na rede: IP e MAC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</a:rPr>
              <a:t>Uma tarefa simples: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No celular: Configurações → Sobre o telefone → Status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Anote o endereço IP e o endereço MAC do Wi-Fi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Não precisa entender — só anotar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